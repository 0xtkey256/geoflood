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63" r:id="rId29"/>
    <p:sldId id="264" r:id="rId30"/>
    <p:sldId id="265" r:id="rId31"/>
    <p:sldId id="266" r:id="rId32"/>
  </p:sldIdLst>
  <p:sldSz cy="5143500" cx="9144000"/>
  <p:notesSz cx="6858000" cy="9144000"/>
  <p:embeddedFontLst>
    <p:embeddedFont>
      <p:font typeface="Inter"/>
      <p:regular r:id="rId13"/>
      <p:bold r:id="rId14"/>
      <p:italic r:id="rId15"/>
      <p:boldItalic r:id="rId16"/>
    </p:embeddedFont>
    <p:embeddedFont>
      <p:font typeface="Outfit Light"/>
      <p:regular r:id="rId17"/>
      <p:bold r:id="rId18"/>
    </p:embeddedFont>
    <p:embeddedFont>
      <p:font typeface="Outfit"/>
      <p:regular r:id="rId19"/>
      <p:bold r:id="rId20"/>
    </p:embeddedFont>
    <p:embeddedFont>
      <p:font typeface="Outfit SemiBold"/>
      <p:regular r:id="rId21"/>
      <p:bold r:id="rId22"/>
    </p:embeddedFont>
    <p:embeddedFont>
      <p:font typeface="Albert Sans"/>
      <p:regular r:id="rId23"/>
      <p:bold r:id="rId24"/>
      <p:italic r:id="rId25"/>
      <p:boldItalic r:id="rId26"/>
    </p:embeddedFont>
    <p:embeddedFont>
      <p:font typeface="Outfit Thin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3" Type="http://schemas.openxmlformats.org/officeDocument/2006/relationships/font" Target="fonts/Inter-regular.fntdata"/><Relationship Id="rId14" Type="http://schemas.openxmlformats.org/officeDocument/2006/relationships/font" Target="fonts/Inter-bold.fntdata"/><Relationship Id="rId15" Type="http://schemas.openxmlformats.org/officeDocument/2006/relationships/font" Target="fonts/Inter-italic.fntdata"/><Relationship Id="rId16" Type="http://schemas.openxmlformats.org/officeDocument/2006/relationships/font" Target="fonts/Inter-boldItalic.fntdata"/><Relationship Id="rId17" Type="http://schemas.openxmlformats.org/officeDocument/2006/relationships/font" Target="fonts/OutfitLight-regular.fntdata"/><Relationship Id="rId18" Type="http://schemas.openxmlformats.org/officeDocument/2006/relationships/font" Target="fonts/OutfitLight-bold.fntdata"/><Relationship Id="rId19" Type="http://schemas.openxmlformats.org/officeDocument/2006/relationships/font" Target="fonts/Outfit-regular.fntdata"/><Relationship Id="rId20" Type="http://schemas.openxmlformats.org/officeDocument/2006/relationships/font" Target="fonts/Outfit-bold.fntdata"/><Relationship Id="rId21" Type="http://schemas.openxmlformats.org/officeDocument/2006/relationships/font" Target="fonts/OutfitSemiBold-regular.fntdata"/><Relationship Id="rId22" Type="http://schemas.openxmlformats.org/officeDocument/2006/relationships/font" Target="fonts/OutfitSemiBold-bold.fntdata"/><Relationship Id="rId23" Type="http://schemas.openxmlformats.org/officeDocument/2006/relationships/font" Target="fonts/AlbertSans-regular.fntdata"/><Relationship Id="rId24" Type="http://schemas.openxmlformats.org/officeDocument/2006/relationships/font" Target="fonts/AlbertSans-bold.fntdata"/><Relationship Id="rId25" Type="http://schemas.openxmlformats.org/officeDocument/2006/relationships/font" Target="fonts/AlbertSans-italic.fntdata"/><Relationship Id="rId26" Type="http://schemas.openxmlformats.org/officeDocument/2006/relationships/font" Target="fonts/AlbertSans-boldItalic.fntdata"/><Relationship Id="rId27" Type="http://schemas.openxmlformats.org/officeDocument/2006/relationships/font" Target="fonts/OutfitThin-regular.fntdata"/><Relationship Id="rId28" Type="http://schemas.openxmlformats.org/officeDocument/2006/relationships/font" Target="fonts/OutfitThin-bold.fntdata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2a4afb71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2a4afb71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780304" y="889050"/>
            <a:ext cx="4446900" cy="18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7200"/>
              <a:buFont typeface="Nanum Myeongjo"/>
              <a:buNone/>
              <a:defRPr sz="7200"/>
            </a:lvl1pPr>
            <a:lvl2pPr lvl="1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3" type="title"/>
          </p:nvPr>
        </p:nvSpPr>
        <p:spPr>
          <a:xfrm>
            <a:off x="3821131" y="38070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829943" y="4016050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55" name="Google Shape;55;p13"/>
          <p:cNvSpPr txBox="1"/>
          <p:nvPr>
            <p:ph idx="4" type="subTitle"/>
          </p:nvPr>
        </p:nvSpPr>
        <p:spPr>
          <a:xfrm>
            <a:off x="5258968" y="4016050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56" name="Google Shape;56;p13"/>
          <p:cNvSpPr/>
          <p:nvPr>
            <p:ph idx="5" type="pic"/>
          </p:nvPr>
        </p:nvSpPr>
        <p:spPr>
          <a:xfrm>
            <a:off x="228600" y="223475"/>
            <a:ext cx="2857200" cy="2348100"/>
          </a:xfrm>
          <a:prstGeom prst="round2SameRect">
            <a:avLst>
              <a:gd fmla="val 4621" name="adj1"/>
              <a:gd fmla="val 0" name="adj2"/>
            </a:avLst>
          </a:prstGeom>
          <a:noFill/>
          <a:ln>
            <a:noFill/>
          </a:ln>
        </p:spPr>
      </p:sp>
      <p:sp>
        <p:nvSpPr>
          <p:cNvPr id="57" name="Google Shape;57;p13"/>
          <p:cNvSpPr/>
          <p:nvPr>
            <p:ph idx="6" type="pic"/>
          </p:nvPr>
        </p:nvSpPr>
        <p:spPr>
          <a:xfrm rot="10800000">
            <a:off x="228600" y="2564446"/>
            <a:ext cx="2857200" cy="2348100"/>
          </a:xfrm>
          <a:prstGeom prst="round2SameRect">
            <a:avLst>
              <a:gd fmla="val 5506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470175" y="546950"/>
            <a:ext cx="4621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Geo Flood Agent</a:t>
            </a:r>
            <a:endParaRPr sz="4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r>
              <a:rPr sz="1600">
                <a:solidFill>
                  <a:srgbClr val="B8C4D6"/>
                </a:solidFill>
                <a:latin typeface="Outfit Light"/>
              </a:rPr>
              <a:t>Natural language → GIS code → isolated execution → cascade analysis</a:t>
            </a:r>
          </a:p>
        </p:txBody>
      </p:sp>
      <p:sp>
        <p:nvSpPr>
          <p:cNvPr id="63" name="Google Shape;63;p14"/>
          <p:cNvSpPr txBox="1"/>
          <p:nvPr/>
        </p:nvSpPr>
        <p:spPr>
          <a:xfrm>
            <a:off x="470175" y="1962950"/>
            <a:ext cx="41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Solafune  |  Daytona HackSprint Tokyo  |  12 September 2026</a:t>
            </a:r>
            <a:endParaRPr sz="1200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60000" y="4796525"/>
            <a:ext cx="835274" cy="1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4937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Outfit"/>
              </a:rPr>
              <a:t>The problem: what hurts is the facility that is NOT under water but stops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9456" y="676656"/>
            <a:ext cx="8705088" cy="0"/>
          </a:xfrm>
          <a:prstGeom prst="line">
            <a:avLst/>
          </a:prstGeom>
          <a:ln w="9525">
            <a:solidFill>
              <a:srgbClr val="4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4800600"/>
            <a:ext cx="832104" cy="1737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960120"/>
            <a:ext cx="493776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Outfit Light"/>
              </a:rPr>
              <a:t>Hazard maps only tell you where the water goes.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Outfit Light"/>
              </a:rPr>
              <a:t>A hospital on high ground still goes dark if its substation sits in the lowlands.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Outfit Light"/>
              </a:rPr>
              <a:t>That cascade never shows up in raster analysis — you have to walk the relationships.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4937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Outfit"/>
              </a:rPr>
              <a:t>"If the lower Arakawa rises 3 m, which facilities are affected?"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493776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0">
                <a:solidFill>
                  <a:srgbClr val="B8C4D6"/>
                </a:solidFill>
                <a:latin typeface="Outfit Light"/>
              </a:rPr>
              <a:t>One question triggers GIS code generation → isolated execution → graph cascade analysis → briefing,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8C4D6"/>
                </a:solidFill>
                <a:latin typeface="Outfit Light"/>
              </a:rPr>
              <a:t>returned in a form a municipal emergency operations center can act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005840"/>
            <a:ext cx="3017520" cy="3566160"/>
          </a:xfrm>
          <a:prstGeom prst="roundRect">
            <a:avLst>
              <a:gd name="adj" fmla="val 8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97880" y="10972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B8C4D6"/>
                </a:solidFill>
                <a:latin typeface="Outfit"/>
              </a:rPr>
              <a:t>Cascade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5087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B122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035040" y="1600200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Outfit"/>
              </a:rPr>
              <a:t>Ueno Plateau Hospital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965960"/>
            <a:ext cx="24688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B8C4D6"/>
                </a:solidFill>
                <a:latin typeface="Outfit Light"/>
              </a:rPr>
              <a:t>elevation 19 m · not flooded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7889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B1224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035040" y="2880360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Outfit"/>
              </a:rPr>
              <a:t>Kita-Senju Substation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246120"/>
            <a:ext cx="24688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B8C4D6"/>
                </a:solidFill>
                <a:latin typeface="Outfit Light"/>
              </a:rPr>
              <a:t>elevation −0.4 m · 3.4 m under water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432304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60A5FA"/>
                </a:solidFill>
                <a:latin typeface="Outfit"/>
              </a:rPr>
              <a:t>↓  POWERED_BY  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749039"/>
            <a:ext cx="26517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  <a:latin typeface="Outfit"/>
              </a:rPr>
              <a:t>→ hospital loses power while staying dry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4937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Outfit"/>
              </a:rPr>
              <a:t>Architecture: one role per platform that would not work without 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9456" y="676656"/>
            <a:ext cx="8705088" cy="0"/>
          </a:xfrm>
          <a:prstGeom prst="line">
            <a:avLst/>
          </a:prstGeom>
          <a:ln w="9525">
            <a:solidFill>
              <a:srgbClr val="4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4800600"/>
            <a:ext cx="832104" cy="17373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96012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141D35"/>
          </a:solidFill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Outfit"/>
              </a:rPr>
              <a:t>NOSANA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Outfit"/>
              </a:rPr>
              <a:t>LLM inference (decentralized GPU)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37744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Bef>
                <a:spcPts val="600"/>
              </a:spcBef>
            </a:pPr>
            <a:r>
              <a:rPr sz="1150" b="0">
                <a:solidFill>
                  <a:srgbClr val="B8C4D6"/>
                </a:solidFill>
                <a:latin typeface="Outfit Light"/>
              </a:rPr>
              <a:t>•  Writes the GIS script from the question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B8C4D6"/>
                </a:solidFill>
                <a:latin typeface="Outfit Light"/>
              </a:rPr>
              <a:t>•  OpenAI-compatible endpoint, one-line swap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B8C4D6"/>
                </a:solidFill>
                <a:latin typeface="Outfit Light"/>
              </a:rPr>
              <a:t>•  Turns results into an EOC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03120"/>
            <a:ext cx="320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Outfit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96012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141D35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383280" y="105156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Outfit"/>
              </a:rPr>
              <a:t>DAYTONA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37160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Outfit"/>
              </a:rPr>
              <a:t>Isolated sandbox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28800"/>
            <a:ext cx="237744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Bef>
                <a:spcPts val="600"/>
              </a:spcBef>
            </a:pPr>
            <a:r>
              <a:rPr sz="1150" b="0">
                <a:solidFill>
                  <a:srgbClr val="B8C4D6"/>
                </a:solidFill>
                <a:latin typeface="Outfit Light"/>
              </a:rPr>
              <a:t>•  Safely runs arbitrary LLM-written code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B8C4D6"/>
                </a:solidFill>
                <a:latin typeface="Outfit Light"/>
              </a:rPr>
              <a:t>•  Fetches GSI elevation tiles → flood mask → map PNG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B8C4D6"/>
                </a:solidFill>
                <a:latin typeface="Outfit Light"/>
              </a:rPr>
              <a:t>•  create → upload → exec → download → 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103120"/>
            <a:ext cx="320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Outfi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96012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141D35"/>
          </a:solidFill>
          <a:ln w="1587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7920" y="105156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60A5FA"/>
                </a:solidFill>
                <a:latin typeface="Outfit"/>
              </a:rPr>
              <a:t>NEO4J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37160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Outfit"/>
              </a:rPr>
              <a:t>Knowledge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828800"/>
            <a:ext cx="237744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Bef>
                <a:spcPts val="600"/>
              </a:spcBef>
            </a:pPr>
            <a:r>
              <a:rPr sz="1150" b="0">
                <a:solidFill>
                  <a:srgbClr val="B8C4D6"/>
                </a:solidFill>
                <a:latin typeface="Outfit Light"/>
              </a:rPr>
              <a:t>•  Facilities and power feeds as a graph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B8C4D6"/>
                </a:solidFill>
                <a:latin typeface="Outfit Light"/>
              </a:rPr>
              <a:t>•  Writes each scenario as FLOODED_IN edges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B8C4D6"/>
                </a:solidFill>
                <a:latin typeface="Outfit Light"/>
              </a:rPr>
              <a:t>•  2-hop Cypher finds outages outside the water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023360"/>
            <a:ext cx="8412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B8C4D6"/>
                </a:solidFill>
                <a:latin typeface="Outfit Light"/>
              </a:rPr>
              <a:t>Question → [Nosana] code → [Neo4j] facilities → [Daytona] execute → [Neo4j] cascade query → [Nosana] briefing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B8C4D6"/>
                </a:solidFill>
                <a:latin typeface="Outfit Light"/>
              </a:rPr>
              <a:t>Every call is flag-switchable; a platform that is down falls back to a same-interface mock, labelled MOCK in the 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4937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Outfit"/>
              </a:rPr>
              <a:t>Demo: one question → flood map and the power cascade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9456" y="676656"/>
            <a:ext cx="8705088" cy="0"/>
          </a:xfrm>
          <a:prstGeom prst="line">
            <a:avLst/>
          </a:prstGeom>
          <a:ln w="9525">
            <a:solidFill>
              <a:srgbClr val="4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4800600"/>
            <a:ext cx="832104" cy="173736"/>
          </a:xfrm>
          <a:prstGeom prst="rect">
            <a:avLst/>
          </a:prstGeom>
        </p:spPr>
      </p:pic>
      <p:pic>
        <p:nvPicPr>
          <p:cNvPr id="5" name="Picture 4" descr="ui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68680"/>
            <a:ext cx="5669280" cy="404948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63640" y="9144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0" y="987552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400" b="1">
                <a:solidFill>
                  <a:srgbClr val="60A5FA"/>
                </a:solidFill>
                <a:latin typeface="Outfit"/>
              </a:rPr>
              <a:t>101 km²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>
                <a:solidFill>
                  <a:srgbClr val="B8C4D6"/>
                </a:solidFill>
                <a:latin typeface="Outfit Light"/>
              </a:rPr>
              <a:t>flooded area (+3.0 m, lower Arakawa)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0" y="2039112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400" b="1">
                <a:solidFill>
                  <a:srgbClr val="F87171"/>
                </a:solidFill>
                <a:latin typeface="Outfit"/>
              </a:rPr>
              <a:t>5 /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>
                <a:solidFill>
                  <a:srgbClr val="B8C4D6"/>
                </a:solidFill>
                <a:latin typeface="Outfit Light"/>
              </a:rPr>
              <a:t>facilities under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0175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0" y="3090672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400" b="1">
                <a:solidFill>
                  <a:srgbClr val="F87171"/>
                </a:solidFill>
                <a:latin typeface="Outfi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66160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>
                <a:solidFill>
                  <a:srgbClr val="B8C4D6"/>
                </a:solidFill>
                <a:latin typeface="Outfit Light"/>
              </a:rPr>
              <a:t>facility losing power outside the water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114800"/>
            <a:ext cx="25603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>
                <a:solidFill>
                  <a:srgbClr val="B8C4D6"/>
                </a:solidFill>
                <a:latin typeface="Outfit Light"/>
              </a:rPr>
              <a:t>Each pipeline stage shows LIVE or MOCK. Generated code, Cypher and the live log are all exposed in the UI.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4937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Outfit"/>
              </a:rPr>
              <a:t>Where we are, and what comes next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9456" y="676656"/>
            <a:ext cx="8705088" cy="0"/>
          </a:xfrm>
          <a:prstGeom prst="line">
            <a:avLst/>
          </a:prstGeom>
          <a:ln w="9525">
            <a:solidFill>
              <a:srgbClr val="4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4800600"/>
            <a:ext cx="832104" cy="17373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960120"/>
            <a:ext cx="4114800" cy="3566160"/>
          </a:xfrm>
          <a:prstGeom prst="roundRect">
            <a:avLst>
              <a:gd name="adj" fmla="val 8000"/>
            </a:avLst>
          </a:prstGeom>
          <a:solidFill>
            <a:srgbClr val="141D35"/>
          </a:solidFill>
          <a:ln w="15875">
            <a:solidFill>
              <a:srgbClr val="4A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FBBF24"/>
                </a:solidFill>
                <a:latin typeface="Outfit"/>
              </a:rPr>
              <a:t>Honest status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840480" cy="3017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Outfit Light"/>
              </a:rPr>
              <a:t>•  Neo4j Aura: live — scenario writes and the 2-hop cascade query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Outfit Light"/>
              </a:rPr>
              <a:t>•  Daytona: sign-up from the venue was blocked by anomaly detection for our whole team (confirmed with support). The same script runs through the local fallback; the integration is 30 lines in agent/sandbox.py and goes live by pasting an API key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Outfit Light"/>
              </a:rPr>
              <a:t>•  Nosana: OpenAI-compatible client implemented; no endpoint yet, so a canned script stands in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B8C4D6"/>
                </a:solidFill>
                <a:latin typeface="Outfit Light"/>
              </a:rPr>
              <a:t>•  Elevation is real GSI tile data; facilities and power feeds are sample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960120"/>
            <a:ext cx="4114800" cy="3566160"/>
          </a:xfrm>
          <a:prstGeom prst="roundRect">
            <a:avLst>
              <a:gd name="adj" fmla="val 8000"/>
            </a:avLst>
          </a:prstGeom>
          <a:solidFill>
            <a:srgbClr val="141D35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Outfit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17320"/>
            <a:ext cx="3840480" cy="3017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Outfit Light"/>
              </a:rPr>
              <a:t>•  Run SAR flood segmentation on Nosana GPUs and replace the bathtub model with observations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Outfit Light"/>
              </a:rPr>
              <a:t>•  Daytona snapshots for 1-second starts; evaluate water levels 1–5 m as N parallel sandboxes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Outfit Light"/>
              </a:rPr>
              <a:t>•  Load real municipal infrastructure (grid, shelters) into Neo4j and operate it in the EOC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60A5FA"/>
                </a:solidFill>
                <a:latin typeface="Outfit Light"/>
              </a:rPr>
              <a:t>•  github.com/0xtkey256/geoflood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