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63" r:id="rId29"/>
    <p:sldId id="264" r:id="rId30"/>
    <p:sldId id="265" r:id="rId31"/>
    <p:sldId id="266" r:id="rId32"/>
  </p:sldIdLst>
  <p:sldSz cy="5143500" cx="9144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Outfit Light"/>
      <p:regular r:id="rId17"/>
      <p:bold r:id="rId18"/>
    </p:embeddedFont>
    <p:embeddedFont>
      <p:font typeface="Outfit"/>
      <p:regular r:id="rId19"/>
      <p:bold r:id="rId20"/>
    </p:embeddedFont>
    <p:embeddedFont>
      <p:font typeface="Outfit SemiBold"/>
      <p:regular r:id="rId21"/>
      <p:bold r:id="rId22"/>
    </p:embeddedFont>
    <p:embeddedFont>
      <p:font typeface="Albert Sans"/>
      <p:regular r:id="rId23"/>
      <p:bold r:id="rId24"/>
      <p:italic r:id="rId25"/>
      <p:boldItalic r:id="rId26"/>
    </p:embeddedFont>
    <p:embeddedFont>
      <p:font typeface="Outfit Thin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3" Type="http://schemas.openxmlformats.org/officeDocument/2006/relationships/font" Target="fonts/Inter-regular.fntdata"/><Relationship Id="rId14" Type="http://schemas.openxmlformats.org/officeDocument/2006/relationships/font" Target="fonts/Inter-bold.fntdata"/><Relationship Id="rId15" Type="http://schemas.openxmlformats.org/officeDocument/2006/relationships/font" Target="fonts/Inter-italic.fntdata"/><Relationship Id="rId16" Type="http://schemas.openxmlformats.org/officeDocument/2006/relationships/font" Target="fonts/Inter-boldItalic.fntdata"/><Relationship Id="rId17" Type="http://schemas.openxmlformats.org/officeDocument/2006/relationships/font" Target="fonts/OutfitLight-regular.fntdata"/><Relationship Id="rId18" Type="http://schemas.openxmlformats.org/officeDocument/2006/relationships/font" Target="fonts/OutfitLight-bold.fntdata"/><Relationship Id="rId19" Type="http://schemas.openxmlformats.org/officeDocument/2006/relationships/font" Target="fonts/Outfit-regular.fntdata"/><Relationship Id="rId20" Type="http://schemas.openxmlformats.org/officeDocument/2006/relationships/font" Target="fonts/Outfit-bold.fntdata"/><Relationship Id="rId21" Type="http://schemas.openxmlformats.org/officeDocument/2006/relationships/font" Target="fonts/OutfitSemiBold-regular.fntdata"/><Relationship Id="rId22" Type="http://schemas.openxmlformats.org/officeDocument/2006/relationships/font" Target="fonts/OutfitSemiBold-bold.fntdata"/><Relationship Id="rId23" Type="http://schemas.openxmlformats.org/officeDocument/2006/relationships/font" Target="fonts/AlbertSans-regular.fntdata"/><Relationship Id="rId24" Type="http://schemas.openxmlformats.org/officeDocument/2006/relationships/font" Target="fonts/AlbertSans-bold.fntdata"/><Relationship Id="rId25" Type="http://schemas.openxmlformats.org/officeDocument/2006/relationships/font" Target="fonts/AlbertSans-italic.fntdata"/><Relationship Id="rId26" Type="http://schemas.openxmlformats.org/officeDocument/2006/relationships/font" Target="fonts/AlbertSans-boldItalic.fntdata"/><Relationship Id="rId27" Type="http://schemas.openxmlformats.org/officeDocument/2006/relationships/font" Target="fonts/OutfitThin-regular.fntdata"/><Relationship Id="rId28" Type="http://schemas.openxmlformats.org/officeDocument/2006/relationships/font" Target="fonts/OutfitThin-bold.fntdata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2a4afb71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2a4afb71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8596800" y="223475"/>
            <a:ext cx="318600" cy="31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780304" y="889050"/>
            <a:ext cx="4446900" cy="18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7200"/>
              <a:buFont typeface="Nanum Myeongjo"/>
              <a:buNone/>
              <a:defRPr sz="7200"/>
            </a:lvl1pPr>
            <a:lvl2pPr lvl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3" type="title"/>
          </p:nvPr>
        </p:nvSpPr>
        <p:spPr>
          <a:xfrm>
            <a:off x="3821131" y="380700"/>
            <a:ext cx="2743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b="1" sz="14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829943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5258968" y="4016050"/>
            <a:ext cx="1309200" cy="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0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9pPr>
          </a:lstStyle>
          <a:p/>
        </p:txBody>
      </p:sp>
      <p:sp>
        <p:nvSpPr>
          <p:cNvPr id="56" name="Google Shape;56;p13"/>
          <p:cNvSpPr/>
          <p:nvPr>
            <p:ph idx="5" type="pic"/>
          </p:nvPr>
        </p:nvSpPr>
        <p:spPr>
          <a:xfrm>
            <a:off x="228600" y="223475"/>
            <a:ext cx="2857200" cy="2348100"/>
          </a:xfrm>
          <a:prstGeom prst="round2SameRect">
            <a:avLst>
              <a:gd fmla="val 4621" name="adj1"/>
              <a:gd fmla="val 0" name="adj2"/>
            </a:avLst>
          </a:prstGeom>
          <a:noFill/>
          <a:ln>
            <a:noFill/>
          </a:ln>
        </p:spPr>
      </p:sp>
      <p:sp>
        <p:nvSpPr>
          <p:cNvPr id="57" name="Google Shape;57;p13"/>
          <p:cNvSpPr/>
          <p:nvPr>
            <p:ph idx="6" type="pic"/>
          </p:nvPr>
        </p:nvSpPr>
        <p:spPr>
          <a:xfrm rot="10800000">
            <a:off x="228600" y="2564446"/>
            <a:ext cx="2857200" cy="2348100"/>
          </a:xfrm>
          <a:prstGeom prst="round2SameRect">
            <a:avLst>
              <a:gd fmla="val 5506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70175" y="546950"/>
            <a:ext cx="4621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Geo Flood Agent</a:t>
            </a:r>
            <a:endParaRPr sz="4000">
              <a:solidFill>
                <a:schemeClr val="dk1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r>
              <a:rPr sz="1600">
                <a:solidFill>
                  <a:srgbClr val="B8C4D6"/>
                </a:solidFill>
                <a:latin typeface="Outfit Light"/>
              </a:rPr>
              <a:t>自然言語 → GISコード → 隔離実行 → 波及分析</a:t>
            </a:r>
          </a:p>
        </p:txBody>
      </p:sp>
      <p:sp>
        <p:nvSpPr>
          <p:cNvPr id="63" name="Google Shape;63;p14"/>
          <p:cNvSpPr txBox="1"/>
          <p:nvPr/>
        </p:nvSpPr>
        <p:spPr>
          <a:xfrm>
            <a:off x="470175" y="1962950"/>
            <a:ext cx="41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Solafune  |  Daytona HackSprint Tokyo  |  12 September 2026</a:t>
            </a:r>
            <a:endParaRPr sz="12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0000" y="4796525"/>
            <a:ext cx="835274" cy="1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課題：困るのは「浸かっていないのに止まる施設」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960120"/>
            <a:ext cx="493776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Outfit Light"/>
              </a:rPr>
              <a:t>ハザードマップは「どこが浸水するか」しか教えてくれない。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Outfit Light"/>
              </a:rPr>
              <a:t>病院が高台にあっても、給電元の変電所が低地なら停電する。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Outfit Light"/>
              </a:rPr>
              <a:t>この「波及」はラスタ解析だけでは出てこない — 関係を辿る必要がある。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Outfit"/>
              </a:rPr>
              <a:t>「荒川下流で水位が3m上がったら、影響を受ける施設は？」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493776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B8C4D6"/>
                </a:solidFill>
                <a:latin typeface="Outfit Light"/>
              </a:rPr>
              <a:t>と聞くだけで、GISコード生成 → 隔離実行 → グラフ波及分析 → 日本語ブリーフィングまで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B8C4D6"/>
                </a:solidFill>
                <a:latin typeface="Outfit Light"/>
              </a:rPr>
              <a:t>自治体の EOC（災害対策本部）がそのまま読める形で返す。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005840"/>
            <a:ext cx="3017520" cy="356616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97880" y="10972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4D6"/>
                </a:solidFill>
                <a:latin typeface="Outfit"/>
              </a:rPr>
              <a:t>波及の例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087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B1224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Outfit"/>
              </a:rPr>
              <a:t>上野台地病院（病院）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6596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B8C4D6"/>
                </a:solidFill>
                <a:latin typeface="Outfit Light"/>
              </a:rPr>
              <a:t>標高19m・浸水なし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78892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B1224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35040" y="2880360"/>
            <a:ext cx="24688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Outfit"/>
              </a:rPr>
              <a:t>北千住変電所（変電所）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246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B8C4D6"/>
                </a:solidFill>
                <a:latin typeface="Outfit Light"/>
              </a:rPr>
              <a:t>標高−0.4m・浸水 3.4m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32304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>
                <a:solidFill>
                  <a:srgbClr val="60A5FA"/>
                </a:solidFill>
                <a:latin typeface="Outfit"/>
              </a:rPr>
              <a:t>↓  POWERED_BY 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49039"/>
            <a:ext cx="26517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Outfit"/>
              </a:rPr>
              <a:t>→ 病院は浸かっていないのに停電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アーキテクチャ：3 基盤に「無いと成立しない」役割を 1 つずつ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9601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Outfit"/>
              </a:rPr>
              <a:t>NOSANA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Outfit"/>
              </a:rPr>
              <a:t>LLM 推論（分散 GPU）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37744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質問から GIS スクリプトを生成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OpenAI 互換エンドポイント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結果を EOC 向け日本語ブリーフィングに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320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Outfi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9601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383280" y="1051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Outfit"/>
              </a:rPr>
              <a:t>DAYTONA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Outfit"/>
              </a:rPr>
              <a:t>隔離サンドボックス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37744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LLM が書いた任意コードを安全に実行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国土地理院 標高タイルを取得 → 浸水マスク → 地図 PNG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create → upload → exec → download →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103120"/>
            <a:ext cx="3200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Outfi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96012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7920" y="105156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60A5FA"/>
                </a:solidFill>
                <a:latin typeface="Outfit"/>
              </a:rPr>
              <a:t>NEO4J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Outfit"/>
              </a:rPr>
              <a:t>ナレッジグラフ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2377440" cy="2011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施設・給電関係をグラフ化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浸水シナリオを FLOODED_IN として書込</a:t>
            </a:r>
          </a:p>
          <a:p>
            <a:pPr>
              <a:spcBef>
                <a:spcPts val="600"/>
              </a:spcBef>
            </a:pPr>
            <a:r>
              <a:rPr sz="1150" b="0">
                <a:solidFill>
                  <a:srgbClr val="B8C4D6"/>
                </a:solidFill>
                <a:latin typeface="Outfit Light"/>
              </a:rPr>
              <a:t>•  2 ホップ Cypher で「浸水域外の停電」を抽出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23360"/>
            <a:ext cx="8412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B8C4D6"/>
                </a:solidFill>
                <a:latin typeface="Outfit Light"/>
              </a:rPr>
              <a:t>質問 → [Nosana] コード生成 → [Neo4j] 施設取得 → [Daytona] 実行 → [Neo4j] 波及クエリ → [Nosana] 要約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B8C4D6"/>
                </a:solidFill>
                <a:latin typeface="Outfit Light"/>
              </a:rPr>
              <a:t>各呼び出しはフラグで切替可能。落ちた基盤は同一インターフェースのモックに自動フォールバック（UI に mock と明示）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デモ：1 つの質問で、地図と「波及停電」まで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pic>
        <p:nvPicPr>
          <p:cNvPr id="5" name="Picture 4" descr="ui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68680"/>
            <a:ext cx="5669280" cy="404948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9144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0" y="987552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400" b="1">
                <a:solidFill>
                  <a:srgbClr val="60A5FA"/>
                </a:solidFill>
                <a:latin typeface="Outfit"/>
              </a:rPr>
              <a:t>101 km²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浸水面積（+3.0 m, 荒川下流）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0" y="2039112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400" b="1">
                <a:solidFill>
                  <a:srgbClr val="F87171"/>
                </a:solidFill>
                <a:latin typeface="Outfit"/>
              </a:rPr>
              <a:t>5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浸水する施設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17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0" y="3090672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400" b="1">
                <a:solidFill>
                  <a:srgbClr val="F87171"/>
                </a:solidFill>
                <a:latin typeface="Outfi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浸水域外で停電する施設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14800"/>
            <a:ext cx="25603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>
                <a:solidFill>
                  <a:srgbClr val="B8C4D6"/>
                </a:solidFill>
                <a:latin typeface="Outfit Light"/>
              </a:rPr>
              <a:t>パイプラインの各段が LIVE / MOCK を明示。生成コード・Cypher・ライブログも UI 内で開示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49377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Outfit"/>
              </a:rPr>
              <a:t>現状と次のステップ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" y="676656"/>
            <a:ext cx="8705088" cy="0"/>
          </a:xfrm>
          <a:prstGeom prst="line">
            <a:avLst/>
          </a:prstGeom>
          <a:ln w="9525">
            <a:solidFill>
              <a:srgbClr val="4A5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4800600"/>
            <a:ext cx="832104" cy="1737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" y="960120"/>
            <a:ext cx="4114800" cy="356616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4A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FBBF24"/>
                </a:solidFill>
                <a:latin typeface="Outfit"/>
              </a:rPr>
              <a:t>今日の到達点（正直に）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84048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Neo4j Aura：LIVE 接続、シナリオ書込と 2 ホップ波及クエリ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Daytona：会場からのサインアップが全チーム anomaly detection で不可（サポート確認済）。同一スクリプトをローカルフォールバックで実行。統合は agent/sandbox.py の 30 行、API キーを貼るだけで LIVE に切替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Nosana：OpenAI 互換クライアント実装済。エンドポイント未取得のため定型スクリプトで代替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B8C4D6"/>
                </a:solidFill>
                <a:latin typeface="Outfit Light"/>
              </a:rPr>
              <a:t>•  標高データは国土地理院タイル（実データ）、施設・給電関係はサンプル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960120"/>
            <a:ext cx="4114800" cy="3566160"/>
          </a:xfrm>
          <a:prstGeom prst="roundRect">
            <a:avLst>
              <a:gd name="adj" fmla="val 8000"/>
            </a:avLst>
          </a:prstGeom>
          <a:solidFill>
            <a:srgbClr val="141D35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Outfit"/>
              </a:rP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3840480" cy="3017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Nosana GPU で SAR 衛星画像の浸水セグメンテーションを実行し、bathtub モデルを実観測に置換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Daytona スナップショットで 1 秒起動、N 並列でシナリオ（水位 1〜5 m）を一括評価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Outfit Light"/>
              </a:rPr>
              <a:t>•  自治体の実インフラデータ（配電系統・避難所）を Neo4j に投入し、EOC で運用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60A5FA"/>
                </a:solidFill>
                <a:latin typeface="Outfit Light"/>
              </a:rPr>
              <a:t>•  github.com/0xtkey256/geoflood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